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141B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8B753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an Alternative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Presence for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Gateway Evaluation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Casino Pride operates as an offshore casino in Goa. Casino and gaming-related businesses fall under restricted/high-risk categories for many banks and payment gateway providers, resulting in additional scrutiny or rejection during merchant onboarding.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website (cpofficial.in) is primarily positioned around the Casino Pride casino/gaming business — a factor considered during payment gateway merchant assessment.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0" y="731520"/>
            <a:ext cx="3108960" cy="3840480"/>
          </a:xfrm>
          <a:prstGeom prst="roundRect">
            <a:avLst>
              <a:gd name="adj" fmla="val 4412"/>
            </a:avLst>
          </a:prstGeom>
          <a:solidFill>
            <a:srgbClr val="141B2D"/>
          </a:solidFill>
          <a:ln/>
          <a:effectLst>
            <a:outerShdw sx="100000" sy="100000" kx="0" ky="0" algn="bl" rotWithShape="0" blurRad="152400" dist="50800" dir="162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0" y="960120"/>
            <a:ext cx="1828800" cy="36576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0" y="1143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Approach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0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separate, professionally designed website with a broader focus: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0" y="2267712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2194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2651760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578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Nightlife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3035808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29626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0" y="3419856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33467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380390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3730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Website development cannot guarantee payment gateway approval. Final approval depends on the bank/payment gateway’s KYC, compliance and risk policies.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POSSIBLE SOLUTIONS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402336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 Goa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 &amp; Nightlife Website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240280"/>
            <a:ext cx="3474720" cy="137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468880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3774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 &amp; nightlife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79806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27066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events &amp; performances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27248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0358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 experiences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456432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3649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ambience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785616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369417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experiences &amp; enquiries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3474720" cy="548640"/>
          </a:xfrm>
          <a:prstGeom prst="roundRect">
            <a:avLst>
              <a:gd name="adj" fmla="val 10000"/>
            </a:avLst>
          </a:prstGeom>
          <a:solidFill>
            <a:srgbClr val="F9FAFB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1879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Pages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6868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• About CP Goa • Entertainment • Experiences • Contact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663440" y="868680"/>
            <a:ext cx="402336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937760" y="1097280"/>
            <a:ext cx="1554480" cy="25603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10972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 — RECOMMENDED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4937760" y="1463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 Coastal Resorts</a:t>
            </a:r>
            <a:endParaRPr lang="en-US" sz="1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Recreation Pvt. Ltd.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937760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Business Website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37760" y="2423160"/>
            <a:ext cx="3474720" cy="137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Shape 27"/>
          <p:cNvSpPr/>
          <p:nvPr/>
        </p:nvSpPr>
        <p:spPr>
          <a:xfrm>
            <a:off x="4937760" y="2651760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5166360" y="2560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 &amp; recreation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37760" y="2980944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5166360" y="28895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 &amp; events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937760" y="3310128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4" name="Text 32"/>
          <p:cNvSpPr/>
          <p:nvPr/>
        </p:nvSpPr>
        <p:spPr>
          <a:xfrm>
            <a:off x="5166360" y="32186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 &amp; lifestyle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3639312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6" name="Text 34"/>
          <p:cNvSpPr/>
          <p:nvPr/>
        </p:nvSpPr>
        <p:spPr>
          <a:xfrm>
            <a:off x="5166360" y="35478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identity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937760" y="3968496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38770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Multi-brand scalability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937760" y="4160520"/>
            <a:ext cx="3474720" cy="54864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/>
        </p:spPr>
      </p:sp>
      <p:sp>
        <p:nvSpPr>
          <p:cNvPr id="40" name="Text 38"/>
          <p:cNvSpPr/>
          <p:nvPr/>
        </p:nvSpPr>
        <p:spPr>
          <a:xfrm>
            <a:off x="5074920" y="41879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Pages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7492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• About • Businesses &amp; Experiences • Brands • Contact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20040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 Coastal Resorts &amp; Recreation Pvt. Ltd.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Business Website — Representing the Company’s Broader Identity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new 5-page website under the domain of Goa Coastal Resorts &amp; Recreation Pvt. Ltd., the company associated with Casino Pride. Instead of positioning the website around casino/gaming, it presents the company’s broader business identity and legitimate activities.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697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94560" y="2697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/>
        </p:spPr>
      </p:sp>
      <p:sp>
        <p:nvSpPr>
          <p:cNvPr id="11" name="Text 9"/>
          <p:cNvSpPr/>
          <p:nvPr/>
        </p:nvSpPr>
        <p:spPr>
          <a:xfrm>
            <a:off x="2194560" y="2697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931920" y="2697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/>
        </p:spPr>
      </p:sp>
      <p:sp>
        <p:nvSpPr>
          <p:cNvPr id="13" name="Text 11"/>
          <p:cNvSpPr/>
          <p:nvPr/>
        </p:nvSpPr>
        <p:spPr>
          <a:xfrm>
            <a:off x="3931920" y="2697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669280" y="2697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0" y="2697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406640" y="2697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/>
        </p:spPr>
      </p:sp>
      <p:sp>
        <p:nvSpPr>
          <p:cNvPr id="17" name="Text 15"/>
          <p:cNvSpPr/>
          <p:nvPr/>
        </p:nvSpPr>
        <p:spPr>
          <a:xfrm>
            <a:off x="7406640" y="2697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9FAF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246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PAGES:   Home   •   About the Company   •   Our Businesses &amp; Experiences   •   Brands / Business Interests   •   Contact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Casino Pride can be presented accurately as one of the company’s brands/business interests where appropriate.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42976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ECFDF5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4462272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462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43000" y="437083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ADVANTAGE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43000" y="45537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stronger corporate digital identity that accommodates existing and future business activities, rather than a website solely around one entertainment brand.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828800"/>
            <a:ext cx="5486400" cy="5486400"/>
          </a:xfrm>
          <a:prstGeom prst="ellipse">
            <a:avLst/>
          </a:prstGeom>
          <a:solidFill>
            <a:srgbClr val="141B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RECOMMENDATION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2 — Corporate Website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 Coastal Resorts &amp; Recreation Pvt. Ltd.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4023360" cy="1097280"/>
          </a:xfrm>
          <a:prstGeom prst="roundRect">
            <a:avLst>
              <a:gd name="adj" fmla="val 8333"/>
            </a:avLst>
          </a:prstGeom>
          <a:solidFill>
            <a:srgbClr val="1C2438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2057400"/>
            <a:ext cx="36576" cy="640080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Credible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the actual corporate/business entity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828800"/>
            <a:ext cx="4023360" cy="1097280"/>
          </a:xfrm>
          <a:prstGeom prst="roundRect">
            <a:avLst>
              <a:gd name="adj" fmla="val 8333"/>
            </a:avLst>
          </a:prstGeom>
          <a:solidFill>
            <a:srgbClr val="1C2438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2057400"/>
            <a:ext cx="36576" cy="640080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Flexible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23317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Showcases hospitality, entertainment, recreation, dining &amp; other activities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4023360" cy="1097280"/>
          </a:xfrm>
          <a:prstGeom prst="roundRect">
            <a:avLst>
              <a:gd name="adj" fmla="val 8333"/>
            </a:avLst>
          </a:prstGeom>
          <a:solidFill>
            <a:srgbClr val="1C2438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3337560"/>
            <a:ext cx="36576" cy="640080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246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Scalable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3611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brands, properties or business interests can be added in future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108960"/>
            <a:ext cx="4023360" cy="1097280"/>
          </a:xfrm>
          <a:prstGeom prst="roundRect">
            <a:avLst>
              <a:gd name="adj" fmla="val 8333"/>
            </a:avLst>
          </a:prstGeom>
          <a:solidFill>
            <a:srgbClr val="1C2438"/>
          </a:solidFill>
          <a:ln/>
        </p:spPr>
      </p:sp>
      <p:sp>
        <p:nvSpPr>
          <p:cNvPr id="20" name="Shape 18"/>
          <p:cNvSpPr/>
          <p:nvPr/>
        </p:nvSpPr>
        <p:spPr>
          <a:xfrm>
            <a:off x="4892040" y="3337560"/>
            <a:ext cx="36576" cy="640080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3246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Long-Term Value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20640" y="3611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Remains useful as a corporate digital asset beyond gateway requirement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526280"/>
            <a:ext cx="2743200" cy="18288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6177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modern, premium corporate website with clear business positioning and accurate information — not simply modifying or hiding the existing Casino Pride identity.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COMMERCIAL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5-Page Minimal Professional Website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4475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3152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UI/UX design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47088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8288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18013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5-page responsive website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231136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2128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31520" y="218541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&amp; mobile optimisation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615184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59689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" y="25694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content structuring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9809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31520" y="2953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integration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017520" y="1463040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3017520" y="144475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29184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Contact/enquiry form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017520" y="1847088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3017520" y="18288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291840" y="18013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integration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017520" y="2231136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3017520" y="22128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291840" y="218541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integration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17520" y="2615184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3017520" y="259689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91840" y="25694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deployment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0" y="777240"/>
            <a:ext cx="3108960" cy="2926080"/>
          </a:xfrm>
          <a:prstGeom prst="roundRect">
            <a:avLst>
              <a:gd name="adj" fmla="val 4688"/>
            </a:avLst>
          </a:prstGeom>
          <a:solidFill>
            <a:srgbClr val="0A0E1A"/>
          </a:solidFill>
          <a:ln/>
          <a:effectLst>
            <a:outerShdw sx="100000" sy="100000" kx="0" ky="0" algn="bl" rotWithShape="0" blurRad="152400" dist="50800" dir="16200000">
              <a:srgbClr val="000000">
                <a:alpha val="2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43600" y="1005840"/>
            <a:ext cx="1371600" cy="32004"/>
          </a:xfrm>
          <a:prstGeom prst="roundRect">
            <a:avLst>
              <a:gd name="adj" fmla="val 57143"/>
            </a:avLst>
          </a:prstGeom>
          <a:solidFill>
            <a:srgbClr val="D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1143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trike="sngStrike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₹21,000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43600" y="16916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₹16,000</a:t>
            </a:r>
            <a:endParaRPr lang="en-US" sz="3800" dirty="0"/>
          </a:p>
        </p:txBody>
      </p:sp>
      <p:sp>
        <p:nvSpPr>
          <p:cNvPr id="37" name="Text 35"/>
          <p:cNvSpPr/>
          <p:nvPr/>
        </p:nvSpPr>
        <p:spPr>
          <a:xfrm>
            <a:off x="7818120" y="1965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GST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943600" y="2377440"/>
            <a:ext cx="2560320" cy="13716"/>
          </a:xfrm>
          <a:prstGeom prst="rect">
            <a:avLst/>
          </a:prstGeom>
          <a:solidFill>
            <a:srgbClr val="1C2438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0" y="2468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@ 18%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406640" y="24688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₹2,880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943600" y="27889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D4A853"/>
          </a:solidFill>
          <a:ln/>
        </p:spPr>
      </p:sp>
      <p:sp>
        <p:nvSpPr>
          <p:cNvPr id="42" name="Text 40"/>
          <p:cNvSpPr/>
          <p:nvPr/>
        </p:nvSpPr>
        <p:spPr>
          <a:xfrm>
            <a:off x="5943600" y="2788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₹18,880/-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943600" y="338328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/>
        </p:spPr>
      </p:sp>
      <p:sp>
        <p:nvSpPr>
          <p:cNvPr id="44" name="Text 42"/>
          <p:cNvSpPr/>
          <p:nvPr/>
        </p:nvSpPr>
        <p:spPr>
          <a:xfrm>
            <a:off x="5943600" y="3383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₹5,000 SAVED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7200" y="397764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6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85800" y="406908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85800" y="43434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approach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874520" y="4325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039112" y="43434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51" name="Text 49"/>
          <p:cNvSpPr/>
          <p:nvPr/>
        </p:nvSpPr>
        <p:spPr>
          <a:xfrm>
            <a:off x="2039112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 structure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3227832" y="4325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392424" y="43434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54" name="Text 52"/>
          <p:cNvSpPr/>
          <p:nvPr/>
        </p:nvSpPr>
        <p:spPr>
          <a:xfrm>
            <a:off x="3392424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4581144" y="4325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45736" y="43434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57" name="Text 55"/>
          <p:cNvSpPr/>
          <p:nvPr/>
        </p:nvSpPr>
        <p:spPr>
          <a:xfrm>
            <a:off x="4745736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934456" y="4325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099048" y="43434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60" name="Text 58"/>
          <p:cNvSpPr/>
          <p:nvPr/>
        </p:nvSpPr>
        <p:spPr>
          <a:xfrm>
            <a:off x="6099048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287768" y="4325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7452360" y="43434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63" name="Text 61"/>
          <p:cNvSpPr/>
          <p:nvPr/>
        </p:nvSpPr>
        <p:spPr>
          <a:xfrm>
            <a:off x="745236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685800" y="46817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website will be developed as a professional, accurate and scalable digital presence. Final payment gateway approval remains subject to the bank/payment provider’s policies and compliance assessment.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2026-08-11T07:59:05Z</dcterms:created>
  <dcterms:modified xsi:type="dcterms:W3CDTF">2026-08-11T07:59:05Z</dcterms:modified>
</cp:coreProperties>
</file>