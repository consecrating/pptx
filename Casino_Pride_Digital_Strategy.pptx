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7C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029200" cy="5029200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3200400"/>
            <a:ext cx="2286000" cy="2286000"/>
          </a:xfrm>
          <a:prstGeom prst="ellipse">
            <a:avLst/>
          </a:prstGeom>
          <a:solidFill>
            <a:srgbClr val="065F4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72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an Alternative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Presence for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Gateway Evaluation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Casino Pride operates as an offshore casino in Goa. Casino and gaming-related businesses fall under restricted/high-risk categories for many banks and payment gateway providers, resulting in additional scrutiny or rejection during merchant onboarding.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website (cpofficial.in) is primarily positioned around the Casino Pride casino/gaming business — a factor considered during payment gateway merchant assessment.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760720" y="914400"/>
            <a:ext cx="3017520" cy="34747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035040" y="1143000"/>
            <a:ext cx="1645920" cy="36576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Approach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0" y="1737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separate, professionally designed website with a broader focus: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2350008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2734056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670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Nightlife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3118104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3054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3502152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34381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3886200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Website development cannot guarantee payment gateway approval. Final approval depends on the bank/payment gateway’s KYC, compliance and risk policies.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D7C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POSSIBLE SOLUTIONS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2D5A8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 Goa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 &amp; Nightlife Website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240280"/>
            <a:ext cx="3474720" cy="137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468880"/>
            <a:ext cx="82296" cy="82296"/>
          </a:xfrm>
          <a:prstGeom prst="ellipse">
            <a:avLst/>
          </a:prstGeom>
          <a:solidFill>
            <a:srgbClr val="2D5A8B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3774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 &amp; nightlife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798064"/>
            <a:ext cx="82296" cy="82296"/>
          </a:xfrm>
          <a:prstGeom prst="ellipse">
            <a:avLst/>
          </a:prstGeom>
          <a:solidFill>
            <a:srgbClr val="2D5A8B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27066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events &amp; performances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82296" cy="82296"/>
          </a:xfrm>
          <a:prstGeom prst="ellipse">
            <a:avLst/>
          </a:prstGeom>
          <a:solidFill>
            <a:srgbClr val="2D5A8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0358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 experiences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456432"/>
            <a:ext cx="82296" cy="82296"/>
          </a:xfrm>
          <a:prstGeom prst="ellipse">
            <a:avLst/>
          </a:prstGeom>
          <a:solidFill>
            <a:srgbClr val="2D5A8B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364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ambience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785616"/>
            <a:ext cx="82296" cy="82296"/>
          </a:xfrm>
          <a:prstGeom prst="ellipse">
            <a:avLst/>
          </a:prstGeom>
          <a:solidFill>
            <a:srgbClr val="2D5A8B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6941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experiences &amp; enquiries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3474720" cy="5486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879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6868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• About CP Goa • Entertainment • Experiences • Contact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63440" y="86868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937760" y="109728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0D7C5F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1097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937760" y="1463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 Coastal Resorts</a:t>
            </a:r>
            <a:endParaRPr lang="en-US" sz="1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Recreation Pvt. Ltd.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93776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Business Website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2423160"/>
            <a:ext cx="3474720" cy="13716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Shape 27"/>
          <p:cNvSpPr/>
          <p:nvPr/>
        </p:nvSpPr>
        <p:spPr>
          <a:xfrm>
            <a:off x="4937760" y="2651760"/>
            <a:ext cx="82296" cy="82296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30" name="Text 28"/>
          <p:cNvSpPr/>
          <p:nvPr/>
        </p:nvSpPr>
        <p:spPr>
          <a:xfrm>
            <a:off x="5166360" y="2560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 &amp; recreation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2980944"/>
            <a:ext cx="82296" cy="82296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32" name="Text 30"/>
          <p:cNvSpPr/>
          <p:nvPr/>
        </p:nvSpPr>
        <p:spPr>
          <a:xfrm>
            <a:off x="5166360" y="2889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 &amp; events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3310128"/>
            <a:ext cx="82296" cy="82296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34" name="Text 32"/>
          <p:cNvSpPr/>
          <p:nvPr/>
        </p:nvSpPr>
        <p:spPr>
          <a:xfrm>
            <a:off x="5166360" y="3218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 &amp; lifestyle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3639312"/>
            <a:ext cx="82296" cy="82296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36" name="Text 34"/>
          <p:cNvSpPr/>
          <p:nvPr/>
        </p:nvSpPr>
        <p:spPr>
          <a:xfrm>
            <a:off x="5166360" y="35478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identity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3968496"/>
            <a:ext cx="82296" cy="82296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38770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Multi-brand scalability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937760" y="4160520"/>
            <a:ext cx="3474720" cy="54864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/>
        </p:spPr>
      </p:sp>
      <p:sp>
        <p:nvSpPr>
          <p:cNvPr id="40" name="Text 38"/>
          <p:cNvSpPr/>
          <p:nvPr/>
        </p:nvSpPr>
        <p:spPr>
          <a:xfrm>
            <a:off x="5074920" y="41879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D7C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7492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• About • Businesses &amp; Experiences • Brands • Contact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554480"/>
          </a:xfrm>
          <a:prstGeom prst="rect">
            <a:avLst/>
          </a:prstGeom>
          <a:solidFill>
            <a:srgbClr val="2D5A8B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D5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 Goa — Entertainment &amp; Nightlife Website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sub-domain website positioned around CP Goa as an entertainment brand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dedicated consumer-facing entertainment presence while keeping the existing cpofficial.in website separate. The website will focus on the entertainment, nightlife, and lifestyle aspects of the brand.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280160" cy="320040"/>
          </a:xfrm>
          <a:prstGeom prst="roundRect">
            <a:avLst>
              <a:gd name="adj" fmla="val 48571"/>
            </a:avLst>
          </a:prstGeom>
          <a:solidFill>
            <a:srgbClr val="2D5A8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560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2560320"/>
            <a:ext cx="1280160" cy="320040"/>
          </a:xfrm>
          <a:prstGeom prst="roundRect">
            <a:avLst>
              <a:gd name="adj" fmla="val 48571"/>
            </a:avLst>
          </a:prstGeom>
          <a:solidFill>
            <a:srgbClr val="2D5A8B"/>
          </a:solidFill>
          <a:ln/>
        </p:spPr>
      </p:sp>
      <p:sp>
        <p:nvSpPr>
          <p:cNvPr id="11" name="Text 9"/>
          <p:cNvSpPr/>
          <p:nvPr/>
        </p:nvSpPr>
        <p:spPr>
          <a:xfrm>
            <a:off x="1874520" y="2560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Nightlife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2560320"/>
            <a:ext cx="1280160" cy="320040"/>
          </a:xfrm>
          <a:prstGeom prst="roundRect">
            <a:avLst>
              <a:gd name="adj" fmla="val 48571"/>
            </a:avLst>
          </a:prstGeom>
          <a:solidFill>
            <a:srgbClr val="2D5A8B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2560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Events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2560320"/>
            <a:ext cx="1280160" cy="320040"/>
          </a:xfrm>
          <a:prstGeom prst="roundRect">
            <a:avLst>
              <a:gd name="adj" fmla="val 48571"/>
            </a:avLst>
          </a:prstGeom>
          <a:solidFill>
            <a:srgbClr val="2D5A8B"/>
          </a:solidFill>
          <a:ln/>
        </p:spPr>
      </p:sp>
      <p:sp>
        <p:nvSpPr>
          <p:cNvPr id="15" name="Text 13"/>
          <p:cNvSpPr/>
          <p:nvPr/>
        </p:nvSpPr>
        <p:spPr>
          <a:xfrm>
            <a:off x="4709160" y="2560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2560320"/>
            <a:ext cx="1280160" cy="320040"/>
          </a:xfrm>
          <a:prstGeom prst="roundRect">
            <a:avLst>
              <a:gd name="adj" fmla="val 48571"/>
            </a:avLst>
          </a:prstGeom>
          <a:solidFill>
            <a:srgbClr val="2D5A8B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560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43800" y="2560320"/>
            <a:ext cx="1280160" cy="320040"/>
          </a:xfrm>
          <a:prstGeom prst="roundRect">
            <a:avLst>
              <a:gd name="adj" fmla="val 48571"/>
            </a:avLst>
          </a:prstGeom>
          <a:solidFill>
            <a:srgbClr val="2D5A8B"/>
          </a:solidFill>
          <a:ln/>
        </p:spPr>
      </p:sp>
      <p:sp>
        <p:nvSpPr>
          <p:cNvPr id="19" name="Text 17"/>
          <p:cNvSpPr/>
          <p:nvPr/>
        </p:nvSpPr>
        <p:spPr>
          <a:xfrm>
            <a:off x="7543800" y="2560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5 PAGES:   Home   •   About CP Goa   •   Entertainment &amp; Nightlife   •   Experiences &amp; Events   •   Contact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794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5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Direction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Goa — Entertainment • Nightlife • Experiences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54880" y="3794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5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40233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a dedicated consumer-facing entertainment presence while keeping the existing cpofficial.in website completely separate.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554480"/>
          </a:xfrm>
          <a:prstGeom prst="rect">
            <a:avLst/>
          </a:prstGeom>
          <a:solidFill>
            <a:srgbClr val="0D7C5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7C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 Coastal Resorts &amp; Recreation Pvt. Ltd.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Business Website — Broader Business Identity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new 5-page website under the domain of Goa Coastal Resorts &amp; Recreation Pvt. Ltd., the company associated with Casino Pride. Instead of positioning the website around casino/gaming, it presents the company’s broader business identity and legitimate activities.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D7C5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6060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94560" y="260604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D7C5F"/>
          </a:solidFill>
          <a:ln/>
        </p:spPr>
      </p:sp>
      <p:sp>
        <p:nvSpPr>
          <p:cNvPr id="11" name="Text 9"/>
          <p:cNvSpPr/>
          <p:nvPr/>
        </p:nvSpPr>
        <p:spPr>
          <a:xfrm>
            <a:off x="2194560" y="26060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931920" y="260604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D7C5F"/>
          </a:solidFill>
          <a:ln/>
        </p:spPr>
      </p:sp>
      <p:sp>
        <p:nvSpPr>
          <p:cNvPr id="13" name="Text 11"/>
          <p:cNvSpPr/>
          <p:nvPr/>
        </p:nvSpPr>
        <p:spPr>
          <a:xfrm>
            <a:off x="3931920" y="26060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669280" y="260604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D7C5F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0" y="26060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406640" y="260604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0D7C5F"/>
          </a:solidFill>
          <a:ln/>
        </p:spPr>
      </p:sp>
      <p:sp>
        <p:nvSpPr>
          <p:cNvPr id="17" name="Text 15"/>
          <p:cNvSpPr/>
          <p:nvPr/>
        </p:nvSpPr>
        <p:spPr>
          <a:xfrm>
            <a:off x="7406640" y="26060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CFDF5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154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5 PAGES:   Home   •   About the Company   •   Our Businesses &amp; Experiences   •   Brands / Business Interests   •   Contact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Casino Pride can be presented accurately as one of the company’s brands/business interests where appropriate.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279392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0D7C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ADVANTAGE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4480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creates a stronger corporate digital identity that can accommodate the company’s existing and future business activities, rather than creating a website solely around one entertainment brand.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011680" cy="256032"/>
          </a:xfrm>
          <a:prstGeom prst="roundRect">
            <a:avLst>
              <a:gd name="adj" fmla="val 50000"/>
            </a:avLst>
          </a:prstGeom>
          <a:solidFill>
            <a:srgbClr val="0D7C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COMMERCIAL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5-Page Minimal Professional Website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453896"/>
            <a:ext cx="182880" cy="182880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3560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152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UI/UX design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37944"/>
            <a:ext cx="182880" cy="182880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81965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18013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5-page responsive website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221992"/>
            <a:ext cx="182880" cy="182880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20370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1520" y="21854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&amp; mobile optimisation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182880" cy="182880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58775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" y="2569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content structuring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990088"/>
            <a:ext cx="182880" cy="182880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971800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2953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integration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017520" y="1453896"/>
            <a:ext cx="182880" cy="182880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21" name="Text 19"/>
          <p:cNvSpPr/>
          <p:nvPr/>
        </p:nvSpPr>
        <p:spPr>
          <a:xfrm>
            <a:off x="3017520" y="143560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9184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Contact/enquiry form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017520" y="1837944"/>
            <a:ext cx="182880" cy="182880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24" name="Text 22"/>
          <p:cNvSpPr/>
          <p:nvPr/>
        </p:nvSpPr>
        <p:spPr>
          <a:xfrm>
            <a:off x="3017520" y="181965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91840" y="18013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integration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017520" y="2221992"/>
            <a:ext cx="182880" cy="182880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27" name="Text 25"/>
          <p:cNvSpPr/>
          <p:nvPr/>
        </p:nvSpPr>
        <p:spPr>
          <a:xfrm>
            <a:off x="3017520" y="2203704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91840" y="21854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integration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2606040"/>
            <a:ext cx="182880" cy="182880"/>
          </a:xfrm>
          <a:prstGeom prst="ellipse">
            <a:avLst/>
          </a:prstGeom>
          <a:solidFill>
            <a:srgbClr val="0D7C5F"/>
          </a:solidFill>
          <a:ln/>
        </p:spPr>
      </p:sp>
      <p:sp>
        <p:nvSpPr>
          <p:cNvPr id="30" name="Text 28"/>
          <p:cNvSpPr/>
          <p:nvPr/>
        </p:nvSpPr>
        <p:spPr>
          <a:xfrm>
            <a:off x="3017520" y="2587752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91840" y="2569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deployment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0" y="777240"/>
            <a:ext cx="3108960" cy="3017520"/>
          </a:xfrm>
          <a:prstGeom prst="roundRect">
            <a:avLst>
              <a:gd name="adj" fmla="val 4545"/>
            </a:avLst>
          </a:prstGeom>
          <a:solidFill>
            <a:srgbClr val="0D7C5F"/>
          </a:solidFill>
          <a:ln/>
          <a:effectLst>
            <a:outerShdw sx="100000" sy="100000" kx="0" ky="0" algn="bl" rotWithShape="0" blurRad="127000" dist="38100" dir="16200000">
              <a:srgbClr val="000000">
                <a:alpha val="1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43600" y="1005840"/>
            <a:ext cx="1371600" cy="32004"/>
          </a:xfrm>
          <a:prstGeom prst="roundRect">
            <a:avLst>
              <a:gd name="adj" fmla="val 57143"/>
            </a:avLst>
          </a:prstGeom>
          <a:solidFill>
            <a:srgbClr val="6EE7B7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1143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0" y="1417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trike="sngStrike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₹21,000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43600" y="16916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₹16,000</a:t>
            </a:r>
            <a:endParaRPr lang="en-US" sz="3800" dirty="0"/>
          </a:p>
        </p:txBody>
      </p:sp>
      <p:sp>
        <p:nvSpPr>
          <p:cNvPr id="37" name="Text 35"/>
          <p:cNvSpPr/>
          <p:nvPr/>
        </p:nvSpPr>
        <p:spPr>
          <a:xfrm>
            <a:off x="7772400" y="1965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GST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0" y="2377440"/>
            <a:ext cx="2560320" cy="13716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0" y="2468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@ 18%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406640" y="24688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₹2,880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943600" y="27889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0" y="27889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C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₹18,880/-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5943600" y="3383280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065F46"/>
          </a:solidFill>
          <a:ln/>
        </p:spPr>
      </p:sp>
      <p:sp>
        <p:nvSpPr>
          <p:cNvPr id="44" name="Text 42"/>
          <p:cNvSpPr/>
          <p:nvPr/>
        </p:nvSpPr>
        <p:spPr>
          <a:xfrm>
            <a:off x="5943600" y="3383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₹5,000 SAVED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7200" y="397764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16200000">
              <a:srgbClr val="000000">
                <a:alpha val="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85800" y="406908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0D7C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85800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0D7C5F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approach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874520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039112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51" name="Text 49"/>
          <p:cNvSpPr/>
          <p:nvPr/>
        </p:nvSpPr>
        <p:spPr>
          <a:xfrm>
            <a:off x="2039112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 structure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227832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392424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54" name="Text 52"/>
          <p:cNvSpPr/>
          <p:nvPr/>
        </p:nvSpPr>
        <p:spPr>
          <a:xfrm>
            <a:off x="3392424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4581144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45736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57" name="Text 55"/>
          <p:cNvSpPr/>
          <p:nvPr/>
        </p:nvSpPr>
        <p:spPr>
          <a:xfrm>
            <a:off x="4745736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934456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099048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60" name="Text 58"/>
          <p:cNvSpPr/>
          <p:nvPr/>
        </p:nvSpPr>
        <p:spPr>
          <a:xfrm>
            <a:off x="6099048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287768" y="4325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7452360" y="434340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63" name="Text 61"/>
          <p:cNvSpPr/>
          <p:nvPr/>
        </p:nvSpPr>
        <p:spPr>
          <a:xfrm>
            <a:off x="745236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685800" y="46817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website will be developed as a professional, accurate and scalable digital presence. Final payment gateway approval remains subject to the bank/payment provider’s policies and compliance assessment.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2026-08-11T08:07:13Z</dcterms:created>
  <dcterms:modified xsi:type="dcterms:W3CDTF">2026-08-11T08:07:13Z</dcterms:modified>
</cp:coreProperties>
</file>